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9"/>
  </p:notesMasterIdLst>
  <p:sldIdLst>
    <p:sldId id="257" r:id="rId2"/>
    <p:sldId id="256" r:id="rId3"/>
    <p:sldId id="258" r:id="rId4"/>
    <p:sldId id="260" r:id="rId5"/>
    <p:sldId id="262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A86A3A-39B4-4D6A-81F0-91437571AC8F}" v="53" dt="2026-02-15T08:09:02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F3DD02-4BA1-4B41-964F-B7999CEFF6C6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F36A67-0058-43D3-A1C6-C10B87DCE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735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36A67-0058-43D3-A1C6-C10B87DCE99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054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36A67-0058-43D3-A1C6-C10B87DCE99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29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36A67-0058-43D3-A1C6-C10B87DCE99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276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36A67-0058-43D3-A1C6-C10B87DCE99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378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929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28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448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350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03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1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12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60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905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685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24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2113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308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4185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522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9317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110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5E16848-9561-485D-A087-DE00FC833F71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2F8C75E-A135-4C49-9292-C38B08D5B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9871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482064-82E1-9142-9900-99F97775FE5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476" y="1633633"/>
            <a:ext cx="6351447" cy="38108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456AAB-92B0-2F9A-F992-56603758E4F1}"/>
              </a:ext>
            </a:extLst>
          </p:cNvPr>
          <p:cNvSpPr txBox="1"/>
          <p:nvPr/>
        </p:nvSpPr>
        <p:spPr>
          <a:xfrm>
            <a:off x="220132" y="751779"/>
            <a:ext cx="11912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BOSCH REXROTH – INDUSTRIAL PRODUCT PERFORMANCE &amp; COST ANALYTICS DASHBOARD</a:t>
            </a:r>
            <a:endParaRPr lang="en-IN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E3FBA-8E1E-2111-AC4A-76595522240D}"/>
              </a:ext>
            </a:extLst>
          </p:cNvPr>
          <p:cNvSpPr txBox="1"/>
          <p:nvPr/>
        </p:nvSpPr>
        <p:spPr>
          <a:xfrm>
            <a:off x="9609667" y="5779645"/>
            <a:ext cx="23198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Presented By</a:t>
            </a:r>
          </a:p>
          <a:p>
            <a:r>
              <a:rPr lang="en-US" sz="1600" dirty="0"/>
              <a:t>Oviya Priya R</a:t>
            </a: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407FA0-577F-7B0D-4BBE-8F89443730F8}"/>
              </a:ext>
            </a:extLst>
          </p:cNvPr>
          <p:cNvSpPr txBox="1"/>
          <p:nvPr/>
        </p:nvSpPr>
        <p:spPr>
          <a:xfrm>
            <a:off x="635000" y="5748867"/>
            <a:ext cx="2616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0000"/>
                </a:solidFill>
              </a:rPr>
              <a:t>Tool Used</a:t>
            </a:r>
          </a:p>
          <a:p>
            <a:r>
              <a:rPr lang="en-US" dirty="0"/>
              <a:t>Microsoft Power BI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18630B-7A07-5847-0185-33BC4D746C9A}"/>
              </a:ext>
            </a:extLst>
          </p:cNvPr>
          <p:cNvSpPr txBox="1"/>
          <p:nvPr/>
        </p:nvSpPr>
        <p:spPr>
          <a:xfrm>
            <a:off x="2734008" y="5748867"/>
            <a:ext cx="23798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0000"/>
                </a:solidFill>
              </a:rPr>
              <a:t>Domain</a:t>
            </a:r>
          </a:p>
          <a:p>
            <a:r>
              <a:rPr lang="en-US" dirty="0"/>
              <a:t>Production Analytics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1819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671B6E1-A7EF-03B2-AF3D-85C3C8BCDE08}"/>
              </a:ext>
            </a:extLst>
          </p:cNvPr>
          <p:cNvSpPr txBox="1"/>
          <p:nvPr/>
        </p:nvSpPr>
        <p:spPr>
          <a:xfrm>
            <a:off x="6442719" y="2175365"/>
            <a:ext cx="4436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9A8D6E-C52A-EB3A-4BB1-247B80FF1F0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120" y="389468"/>
            <a:ext cx="5491224" cy="134110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533BA66-5904-CE08-CCDB-C880D106C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2719" y="3175983"/>
            <a:ext cx="530369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to track production cost manually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to identify cost variance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clear visibility on department-wise efficiency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Time-consuming monthly report preparation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0D4C6F-9195-AD82-9C71-BFC55E3B94B4}"/>
              </a:ext>
            </a:extLst>
          </p:cNvPr>
          <p:cNvSpPr txBox="1"/>
          <p:nvPr/>
        </p:nvSpPr>
        <p:spPr>
          <a:xfrm>
            <a:off x="512768" y="2167189"/>
            <a:ext cx="39491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748B6E0-61C9-8745-BD3C-112C7389D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8" y="3175983"/>
            <a:ext cx="532660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Bosch Rexroth is an industrial automation and manufacturing solutions company.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Manufacturing companies need real-time monitoring of production cost &amp; efficiency.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dashboard helps analyze product performance and cost trends.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24EF08-7879-C11F-3166-C895DC3755F3}"/>
              </a:ext>
            </a:extLst>
          </p:cNvPr>
          <p:cNvCxnSpPr/>
          <p:nvPr/>
        </p:nvCxnSpPr>
        <p:spPr>
          <a:xfrm>
            <a:off x="6101918" y="2366388"/>
            <a:ext cx="0" cy="337351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173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C10DE2-88E2-5393-7DF3-937A6A9C6164}"/>
              </a:ext>
            </a:extLst>
          </p:cNvPr>
          <p:cNvSpPr txBox="1"/>
          <p:nvPr/>
        </p:nvSpPr>
        <p:spPr>
          <a:xfrm>
            <a:off x="572038" y="2433712"/>
            <a:ext cx="4965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Project Objective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1CD793F-54E0-BD24-844D-870481D2D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33" y="2336856"/>
            <a:ext cx="24237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3DE5680-1E32-67C1-D10F-4FFF97A64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20" y="3319507"/>
            <a:ext cx="24237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8C0E8F-5428-B763-2699-484B21B210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888" y="213698"/>
            <a:ext cx="5716580" cy="14829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56B7537-53F2-9BAD-055B-44587DFF7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038" y="3319507"/>
            <a:ext cx="447430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total production cost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planned vs actual cost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production efficiency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Department-wise performance analysis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cost variance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4E124E-831B-1CE8-9954-10DA169CCC09}"/>
              </a:ext>
            </a:extLst>
          </p:cNvPr>
          <p:cNvCxnSpPr/>
          <p:nvPr/>
        </p:nvCxnSpPr>
        <p:spPr>
          <a:xfrm>
            <a:off x="5820044" y="2675410"/>
            <a:ext cx="0" cy="31411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CF3A5C6-032D-DA33-11EB-B179A58FC103}"/>
              </a:ext>
            </a:extLst>
          </p:cNvPr>
          <p:cNvSpPr txBox="1"/>
          <p:nvPr/>
        </p:nvSpPr>
        <p:spPr>
          <a:xfrm>
            <a:off x="6311442" y="2442268"/>
            <a:ext cx="57567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Tools &amp; Technologies Used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3CDEAB7-CFCA-C179-A88B-5867FF64E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957" y="3261910"/>
            <a:ext cx="307461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 (Data Source)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DAX (for calculations)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6E1F6D-5E54-5420-AEC9-86CE3C185FC1}"/>
              </a:ext>
            </a:extLst>
          </p:cNvPr>
          <p:cNvSpPr txBox="1"/>
          <p:nvPr/>
        </p:nvSpPr>
        <p:spPr>
          <a:xfrm>
            <a:off x="6371957" y="4339872"/>
            <a:ext cx="2118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Technologies 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C3B9B4-502F-6CEB-969D-D53B84EFB1DD}"/>
              </a:ext>
            </a:extLst>
          </p:cNvPr>
          <p:cNvSpPr txBox="1"/>
          <p:nvPr/>
        </p:nvSpPr>
        <p:spPr>
          <a:xfrm>
            <a:off x="6432555" y="5015693"/>
            <a:ext cx="51329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Calculated </a:t>
            </a:r>
            <a:r>
              <a:rPr lang="en-US" b="1" dirty="0"/>
              <a:t>Columns</a:t>
            </a:r>
            <a:r>
              <a:rPr lang="en-US" dirty="0"/>
              <a:t> and </a:t>
            </a:r>
            <a:r>
              <a:rPr lang="en-US" b="1" dirty="0"/>
              <a:t>DAX measures</a:t>
            </a:r>
            <a:r>
              <a:rPr lang="en-US" dirty="0"/>
              <a:t> for KPIs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Visuals like </a:t>
            </a:r>
            <a:r>
              <a:rPr lang="en-US" b="1" dirty="0"/>
              <a:t>cards, charts 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Applied </a:t>
            </a:r>
            <a:r>
              <a:rPr lang="en-US" b="1" dirty="0"/>
              <a:t>slicers</a:t>
            </a:r>
            <a:r>
              <a:rPr lang="en-US" dirty="0"/>
              <a:t> for  Day, Product</a:t>
            </a:r>
          </a:p>
        </p:txBody>
      </p:sp>
    </p:spTree>
    <p:extLst>
      <p:ext uri="{BB962C8B-B14F-4D97-AF65-F5344CB8AC3E}">
        <p14:creationId xmlns:p14="http://schemas.microsoft.com/office/powerpoint/2010/main" val="3661048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810D4D-D576-42C0-ED4E-30E4E5CB8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068" y="228599"/>
            <a:ext cx="6265333" cy="15578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888DDE-DF58-FBE0-2FF0-0A4EE56A5C64}"/>
              </a:ext>
            </a:extLst>
          </p:cNvPr>
          <p:cNvSpPr txBox="1"/>
          <p:nvPr/>
        </p:nvSpPr>
        <p:spPr>
          <a:xfrm>
            <a:off x="702733" y="2294399"/>
            <a:ext cx="4402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Dashboard Overview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BD4BEB-1DB4-FEEF-59D5-3AF517F39BAB}"/>
              </a:ext>
            </a:extLst>
          </p:cNvPr>
          <p:cNvSpPr txBox="1"/>
          <p:nvPr/>
        </p:nvSpPr>
        <p:spPr>
          <a:xfrm>
            <a:off x="6676236" y="3241006"/>
            <a:ext cx="44807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Key Visualizations: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Production Cost by Month (Line Chart)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Cost by Department (Column Chart)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Cost by Year (Donut Chart)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Cost by Shift(Waterfall Chart)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Table by YTD &amp; MTD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Slicer for (Day, Department)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41079E-C84F-19C5-AA80-827FA93A9E72}"/>
              </a:ext>
            </a:extLst>
          </p:cNvPr>
          <p:cNvCxnSpPr>
            <a:cxnSpLocks/>
          </p:cNvCxnSpPr>
          <p:nvPr/>
        </p:nvCxnSpPr>
        <p:spPr>
          <a:xfrm>
            <a:off x="5602953" y="3429000"/>
            <a:ext cx="0" cy="225674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E6DAE57-C5CC-324F-4F65-55D2EA63CBA8}"/>
              </a:ext>
            </a:extLst>
          </p:cNvPr>
          <p:cNvSpPr txBox="1"/>
          <p:nvPr/>
        </p:nvSpPr>
        <p:spPr>
          <a:xfrm>
            <a:off x="702733" y="3241006"/>
            <a:ext cx="380999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KPI Cards:</a:t>
            </a:r>
          </a:p>
          <a:p>
            <a:pPr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Total Production Cost – 70M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Planned Cost – 354K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Actual Cost – 362K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Efficiency – 128.75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Production Variance – 7K</a:t>
            </a:r>
          </a:p>
        </p:txBody>
      </p:sp>
    </p:spTree>
    <p:extLst>
      <p:ext uri="{BB962C8B-B14F-4D97-AF65-F5344CB8AC3E}">
        <p14:creationId xmlns:p14="http://schemas.microsoft.com/office/powerpoint/2010/main" val="1831405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5F598C-AA24-5AD6-AAA7-42A2CAFA1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312" y="290036"/>
            <a:ext cx="6649375" cy="1743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310C94-D487-AFA3-0F49-D5EC923C4E50}"/>
              </a:ext>
            </a:extLst>
          </p:cNvPr>
          <p:cNvSpPr txBox="1"/>
          <p:nvPr/>
        </p:nvSpPr>
        <p:spPr>
          <a:xfrm>
            <a:off x="676922" y="2536339"/>
            <a:ext cx="39966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Business Features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AC6A8A3-8CC2-8320-21F5-04C599D6D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922" y="3531778"/>
            <a:ext cx="656461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production cost and performance monitoring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Planned vs Actual cost comparison for financial control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Department-wise and shift-wise efficiency analysis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variance identification to reduce excess expenses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dashboard with filters for better decision-making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220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D36AD-2A0F-A816-8ABC-1C3567D5D8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554" y="231463"/>
            <a:ext cx="6581775" cy="14562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CC1C1B-EE42-7E7D-C60D-E7F1CE936CEC}"/>
              </a:ext>
            </a:extLst>
          </p:cNvPr>
          <p:cNvSpPr txBox="1"/>
          <p:nvPr/>
        </p:nvSpPr>
        <p:spPr>
          <a:xfrm>
            <a:off x="689504" y="2365808"/>
            <a:ext cx="461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Conclusion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9B42A0-59F4-2897-6F52-9099EE73F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504" y="3384197"/>
            <a:ext cx="887294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clear and interactive view of production performance and cost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compare planned vs actual costs to improve operational efficiency.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data-driven decision-making for better cost control and productivity.</a:t>
            </a:r>
          </a:p>
        </p:txBody>
      </p:sp>
    </p:spTree>
    <p:extLst>
      <p:ext uri="{BB962C8B-B14F-4D97-AF65-F5344CB8AC3E}">
        <p14:creationId xmlns:p14="http://schemas.microsoft.com/office/powerpoint/2010/main" val="1280676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9C1588-17C4-48E1-6CA9-1BF395F0D6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85" y="740344"/>
            <a:ext cx="10486029" cy="58831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C9B5AF-9679-201A-7D08-103924FD644A}"/>
              </a:ext>
            </a:extLst>
          </p:cNvPr>
          <p:cNvSpPr txBox="1"/>
          <p:nvPr/>
        </p:nvSpPr>
        <p:spPr>
          <a:xfrm>
            <a:off x="3886200" y="840"/>
            <a:ext cx="497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Dashboard Overview</a:t>
            </a:r>
            <a:endParaRPr lang="en-IN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413612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935</TotalTime>
  <Words>284</Words>
  <Application>Microsoft Office PowerPoint</Application>
  <PresentationFormat>Widescreen</PresentationFormat>
  <Paragraphs>63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Corbel</vt:lpstr>
      <vt:lpstr>Wingdings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Oviyapriya R</dc:creator>
  <cp:lastModifiedBy>Oviyapriya R</cp:lastModifiedBy>
  <cp:revision>3</cp:revision>
  <dcterms:created xsi:type="dcterms:W3CDTF">2026-02-04T16:39:55Z</dcterms:created>
  <dcterms:modified xsi:type="dcterms:W3CDTF">2026-02-15T08:45:18Z</dcterms:modified>
</cp:coreProperties>
</file>