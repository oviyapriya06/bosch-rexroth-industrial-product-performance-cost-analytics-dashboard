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9"/>
  </p:notesMasterIdLst>
  <p:sldIdLst>
    <p:sldId id="257" r:id="rId2"/>
    <p:sldId id="256" r:id="rId3"/>
    <p:sldId id="258" r:id="rId4"/>
    <p:sldId id="260" r:id="rId5"/>
    <p:sldId id="262" r:id="rId6"/>
    <p:sldId id="261" r:id="rId7"/>
    <p:sldId id="264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7A86A3A-39B4-4D6A-81F0-91437571AC8F}" v="53" dt="2026-02-15T08:09:02.5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F3DD02-4BA1-4B41-964F-B7999CEFF6C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F36A67-0058-43D3-A1C6-C10B87DCE99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2735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F36A67-0058-43D3-A1C6-C10B87DCE998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10542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F36A67-0058-43D3-A1C6-C10B87DCE998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2296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F36A67-0058-43D3-A1C6-C10B87DCE998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92766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F36A67-0058-43D3-A1C6-C10B87DCE998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63783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F36A67-0058-43D3-A1C6-C10B87DCE998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1954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16848-9561-485D-A087-DE00FC833F71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C75E-A135-4C49-9292-C38B08D5B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7929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16848-9561-485D-A087-DE00FC833F71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C75E-A135-4C49-9292-C38B08D5B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9728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16848-9561-485D-A087-DE00FC833F71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C75E-A135-4C49-9292-C38B08D5B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64489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16848-9561-485D-A087-DE00FC833F71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C75E-A135-4C49-9292-C38B08D5B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9350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16848-9561-485D-A087-DE00FC833F71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C75E-A135-4C49-9292-C38B08D5B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00320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16848-9561-485D-A087-DE00FC833F71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C75E-A135-4C49-9292-C38B08D5B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21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16848-9561-485D-A087-DE00FC833F71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C75E-A135-4C49-9292-C38B08D5B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4127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16848-9561-485D-A087-DE00FC833F71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C75E-A135-4C49-9292-C38B08D5B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1607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16848-9561-485D-A087-DE00FC833F71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C75E-A135-4C49-9292-C38B08D5B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2905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16848-9561-485D-A087-DE00FC833F71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C75E-A135-4C49-9292-C38B08D5B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6685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16848-9561-485D-A087-DE00FC833F71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C75E-A135-4C49-9292-C38B08D5B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29248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16848-9561-485D-A087-DE00FC833F71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C75E-A135-4C49-9292-C38B08D5BEE1}" type="slidenum">
              <a:rPr lang="en-IN" smtClean="0"/>
              <a:t>‹#›</a:t>
            </a:fld>
            <a:endParaRPr lang="en-IN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321132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16848-9561-485D-A087-DE00FC833F71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C75E-A135-4C49-9292-C38B08D5B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13081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16848-9561-485D-A087-DE00FC833F71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C75E-A135-4C49-9292-C38B08D5B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64185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16848-9561-485D-A087-DE00FC833F71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C75E-A135-4C49-9292-C38B08D5B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15220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16848-9561-485D-A087-DE00FC833F71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C75E-A135-4C49-9292-C38B08D5B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69317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16848-9561-485D-A087-DE00FC833F71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C75E-A135-4C49-9292-C38B08D5B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7110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B5E16848-9561-485D-A087-DE00FC833F71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C2F8C75E-A135-4C49-9292-C38B08D5BE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598715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482064-82E1-9142-9900-99F97775FE5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3476" y="1633633"/>
            <a:ext cx="6351447" cy="381086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456AAB-92B0-2F9A-F992-56603758E4F1}"/>
              </a:ext>
            </a:extLst>
          </p:cNvPr>
          <p:cNvSpPr txBox="1"/>
          <p:nvPr/>
        </p:nvSpPr>
        <p:spPr>
          <a:xfrm>
            <a:off x="220132" y="751779"/>
            <a:ext cx="11912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BOSCH REXROTH – INDUSTRIAL PRODUCT PERFORMANCE &amp; COST ANALYTICS DASHBOARD</a:t>
            </a:r>
            <a:endParaRPr lang="en-IN" sz="4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DE3FBA-8E1E-2111-AC4A-76595522240D}"/>
              </a:ext>
            </a:extLst>
          </p:cNvPr>
          <p:cNvSpPr txBox="1"/>
          <p:nvPr/>
        </p:nvSpPr>
        <p:spPr>
          <a:xfrm>
            <a:off x="9609667" y="5779645"/>
            <a:ext cx="23198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Presented By</a:t>
            </a:r>
          </a:p>
          <a:p>
            <a:r>
              <a:rPr lang="en-US" sz="1600" dirty="0"/>
              <a:t>Oviya Priya R</a:t>
            </a:r>
            <a:endParaRPr lang="en-IN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407FA0-577F-7B0D-4BBE-8F89443730F8}"/>
              </a:ext>
            </a:extLst>
          </p:cNvPr>
          <p:cNvSpPr txBox="1"/>
          <p:nvPr/>
        </p:nvSpPr>
        <p:spPr>
          <a:xfrm>
            <a:off x="635000" y="5748867"/>
            <a:ext cx="2616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400" b="1" dirty="0">
                <a:solidFill>
                  <a:srgbClr val="FF0000"/>
                </a:solidFill>
              </a:rPr>
              <a:t>Tool Used</a:t>
            </a:r>
          </a:p>
          <a:p>
            <a:r>
              <a:rPr lang="en-US" dirty="0"/>
              <a:t>Microsoft Power BI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18630B-7A07-5847-0185-33BC4D746C9A}"/>
              </a:ext>
            </a:extLst>
          </p:cNvPr>
          <p:cNvSpPr txBox="1"/>
          <p:nvPr/>
        </p:nvSpPr>
        <p:spPr>
          <a:xfrm>
            <a:off x="2734008" y="5748867"/>
            <a:ext cx="237985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400" b="1" dirty="0">
                <a:solidFill>
                  <a:srgbClr val="FF0000"/>
                </a:solidFill>
              </a:rPr>
              <a:t>Domain</a:t>
            </a:r>
          </a:p>
          <a:p>
            <a:r>
              <a:rPr lang="en-US" dirty="0"/>
              <a:t>Production Analytics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51819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671B6E1-A7EF-03B2-AF3D-85C3C8BCDE08}"/>
              </a:ext>
            </a:extLst>
          </p:cNvPr>
          <p:cNvSpPr txBox="1"/>
          <p:nvPr/>
        </p:nvSpPr>
        <p:spPr>
          <a:xfrm>
            <a:off x="6442719" y="2175365"/>
            <a:ext cx="44365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dirty="0">
                <a:solidFill>
                  <a:srgbClr val="FF0000"/>
                </a:solidFill>
              </a:rPr>
              <a:t>Problem Statement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9A8D6E-C52A-EB3A-4BB1-247B80FF1F0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9120" y="389468"/>
            <a:ext cx="5491224" cy="134110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533BA66-5904-CE08-CCDB-C880D106C6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2719" y="3175983"/>
            <a:ext cx="530369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Difficult to track production cost manually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 to identify cost variance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clear visibility on department-wise efficiency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Time-consuming monthly report preparation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0D4C6F-9195-AD82-9C71-BFC55E3B94B4}"/>
              </a:ext>
            </a:extLst>
          </p:cNvPr>
          <p:cNvSpPr txBox="1"/>
          <p:nvPr/>
        </p:nvSpPr>
        <p:spPr>
          <a:xfrm>
            <a:off x="512768" y="2167189"/>
            <a:ext cx="39491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b="1" dirty="0">
                <a:solidFill>
                  <a:srgbClr val="FF0000"/>
                </a:solidFill>
              </a:rPr>
              <a:t>Introduction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0748B6E0-61C9-8745-BD3C-112C7389D1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2768" y="3175983"/>
            <a:ext cx="5326602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Bosch Rexroth is an industrial automation and manufacturing solutions company.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Manufacturing companies need real-time monitoring of production cost &amp; efficiency.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dashboard helps analyze product performance and cost trends.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D24EF08-7879-C11F-3166-C895DC3755F3}"/>
              </a:ext>
            </a:extLst>
          </p:cNvPr>
          <p:cNvCxnSpPr/>
          <p:nvPr/>
        </p:nvCxnSpPr>
        <p:spPr>
          <a:xfrm>
            <a:off x="6101918" y="2366388"/>
            <a:ext cx="0" cy="3373515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0173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1C10DE2-88E2-5393-7DF3-937A6A9C6164}"/>
              </a:ext>
            </a:extLst>
          </p:cNvPr>
          <p:cNvSpPr txBox="1"/>
          <p:nvPr/>
        </p:nvSpPr>
        <p:spPr>
          <a:xfrm>
            <a:off x="572038" y="2433712"/>
            <a:ext cx="49657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b="1" dirty="0">
                <a:solidFill>
                  <a:srgbClr val="FF0000"/>
                </a:solidFill>
              </a:rPr>
              <a:t>Project Objective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E1CD793F-54E0-BD24-844D-870481D2D7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8933" y="2336856"/>
            <a:ext cx="242374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C3DE5680-1E32-67C1-D10F-4FFF97A645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0120" y="3319507"/>
            <a:ext cx="242374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8C0E8F-5428-B763-2699-484B21B210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4888" y="213698"/>
            <a:ext cx="5716580" cy="148299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56B7537-53F2-9BAD-055B-44587DFF7B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038" y="3319507"/>
            <a:ext cx="447430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Analyze total production cost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Compare planned vs actual cost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Measure production efficiency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Department-wise performance analysis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Identify cost variance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C4E124E-831B-1CE8-9954-10DA169CCC09}"/>
              </a:ext>
            </a:extLst>
          </p:cNvPr>
          <p:cNvCxnSpPr/>
          <p:nvPr/>
        </p:nvCxnSpPr>
        <p:spPr>
          <a:xfrm>
            <a:off x="5820044" y="2675410"/>
            <a:ext cx="0" cy="314119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CF3A5C6-032D-DA33-11EB-B179A58FC103}"/>
              </a:ext>
            </a:extLst>
          </p:cNvPr>
          <p:cNvSpPr txBox="1"/>
          <p:nvPr/>
        </p:nvSpPr>
        <p:spPr>
          <a:xfrm>
            <a:off x="6311442" y="2442268"/>
            <a:ext cx="57567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b="1" dirty="0">
                <a:solidFill>
                  <a:srgbClr val="FF0000"/>
                </a:solidFill>
              </a:rPr>
              <a:t>Tools &amp; Technologies Used</a:t>
            </a:r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D3CDEAB7-CFCA-C179-A88B-5867FF64E9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1957" y="3261910"/>
            <a:ext cx="3074610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 BI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Excel (Data Source)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DAX (for calculations)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6E1F6D-5E54-5420-AEC9-86CE3C185FC1}"/>
              </a:ext>
            </a:extLst>
          </p:cNvPr>
          <p:cNvSpPr txBox="1"/>
          <p:nvPr/>
        </p:nvSpPr>
        <p:spPr>
          <a:xfrm>
            <a:off x="6371957" y="4339872"/>
            <a:ext cx="21187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bg1"/>
                </a:solidFill>
              </a:rPr>
              <a:t>Technologies </a:t>
            </a:r>
            <a:endParaRPr lang="en-IN" sz="2400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C3B9B4-502F-6CEB-969D-D53B84EFB1DD}"/>
              </a:ext>
            </a:extLst>
          </p:cNvPr>
          <p:cNvSpPr txBox="1"/>
          <p:nvPr/>
        </p:nvSpPr>
        <p:spPr>
          <a:xfrm>
            <a:off x="6432555" y="5015693"/>
            <a:ext cx="51329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Calculated </a:t>
            </a:r>
            <a:r>
              <a:rPr lang="en-US" b="1" dirty="0"/>
              <a:t>Columns</a:t>
            </a:r>
            <a:r>
              <a:rPr lang="en-US" dirty="0"/>
              <a:t> and </a:t>
            </a:r>
            <a:r>
              <a:rPr lang="en-US" b="1" dirty="0"/>
              <a:t>DAX measures</a:t>
            </a:r>
            <a:r>
              <a:rPr lang="en-US" dirty="0"/>
              <a:t> for KPIs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Visuals like </a:t>
            </a:r>
            <a:r>
              <a:rPr lang="en-US" b="1" dirty="0"/>
              <a:t>cards, charts </a:t>
            </a: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Applied </a:t>
            </a:r>
            <a:r>
              <a:rPr lang="en-US" b="1" dirty="0"/>
              <a:t>slicers</a:t>
            </a:r>
            <a:r>
              <a:rPr lang="en-US" dirty="0"/>
              <a:t> for  Day, Product</a:t>
            </a:r>
          </a:p>
        </p:txBody>
      </p:sp>
    </p:spTree>
    <p:extLst>
      <p:ext uri="{BB962C8B-B14F-4D97-AF65-F5344CB8AC3E}">
        <p14:creationId xmlns:p14="http://schemas.microsoft.com/office/powerpoint/2010/main" val="3661048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810D4D-D576-42C0-ED4E-30E4E5CB82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4068" y="228599"/>
            <a:ext cx="6265333" cy="15578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888DDE-DF58-FBE0-2FF0-0A4EE56A5C64}"/>
              </a:ext>
            </a:extLst>
          </p:cNvPr>
          <p:cNvSpPr txBox="1"/>
          <p:nvPr/>
        </p:nvSpPr>
        <p:spPr>
          <a:xfrm>
            <a:off x="702733" y="2294399"/>
            <a:ext cx="4402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dirty="0">
                <a:solidFill>
                  <a:srgbClr val="FF0000"/>
                </a:solidFill>
              </a:rPr>
              <a:t>Dashboard Overview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BD4BEB-1DB4-FEEF-59D5-3AF517F39BAB}"/>
              </a:ext>
            </a:extLst>
          </p:cNvPr>
          <p:cNvSpPr txBox="1"/>
          <p:nvPr/>
        </p:nvSpPr>
        <p:spPr>
          <a:xfrm>
            <a:off x="6676236" y="3241006"/>
            <a:ext cx="4480714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Key Visualizations: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Production Cost by Month (Line Chart)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Cost by Department (Column Chart)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Cost by Year (Donut Chart)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Cost by Shift(Waterfall Chart)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Table by YTD &amp; MTD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Slicer for (Day, Department)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241079E-C84F-19C5-AA80-827FA93A9E72}"/>
              </a:ext>
            </a:extLst>
          </p:cNvPr>
          <p:cNvCxnSpPr>
            <a:cxnSpLocks/>
          </p:cNvCxnSpPr>
          <p:nvPr/>
        </p:nvCxnSpPr>
        <p:spPr>
          <a:xfrm>
            <a:off x="5602953" y="3429000"/>
            <a:ext cx="0" cy="225674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E6DAE57-C5CC-324F-4F65-55D2EA63CBA8}"/>
              </a:ext>
            </a:extLst>
          </p:cNvPr>
          <p:cNvSpPr txBox="1"/>
          <p:nvPr/>
        </p:nvSpPr>
        <p:spPr>
          <a:xfrm>
            <a:off x="702733" y="3241006"/>
            <a:ext cx="3809999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bg1"/>
                </a:solidFill>
              </a:rPr>
              <a:t>KPI Cards:</a:t>
            </a:r>
          </a:p>
          <a:p>
            <a:pPr>
              <a:buNone/>
            </a:pPr>
            <a:endParaRPr lang="en-US" b="1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Total Production Cost – 70M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Planned Cost – 354K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Actual Cost – 362K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Efficiency – 128.75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Production Variance – 7K</a:t>
            </a:r>
          </a:p>
        </p:txBody>
      </p:sp>
    </p:spTree>
    <p:extLst>
      <p:ext uri="{BB962C8B-B14F-4D97-AF65-F5344CB8AC3E}">
        <p14:creationId xmlns:p14="http://schemas.microsoft.com/office/powerpoint/2010/main" val="18314056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35F598C-AA24-5AD6-AAA7-42A2CAFA12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312" y="290036"/>
            <a:ext cx="6649375" cy="1743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C310C94-D487-AFA3-0F49-D5EC923C4E50}"/>
              </a:ext>
            </a:extLst>
          </p:cNvPr>
          <p:cNvSpPr txBox="1"/>
          <p:nvPr/>
        </p:nvSpPr>
        <p:spPr>
          <a:xfrm>
            <a:off x="676922" y="2536339"/>
            <a:ext cx="39966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b="1" dirty="0">
                <a:solidFill>
                  <a:srgbClr val="FF0000"/>
                </a:solidFill>
              </a:rPr>
              <a:t>Business Features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AC6A8A3-8CC2-8320-21F5-04C599D6DA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922" y="3531778"/>
            <a:ext cx="6564618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Real-time production cost and performance monitoring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Planned vs Actual cost comparison for financial control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Department-wise and shift-wise efficiency analysis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Cost variance identification to reduce excess expenses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Interactive dashboard with filters for better decision-making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2220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CD36AD-2A0F-A816-8ABC-1C3567D5D8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4554" y="231463"/>
            <a:ext cx="6581775" cy="14562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CC1C1B-EE42-7E7D-C60D-E7F1CE936CEC}"/>
              </a:ext>
            </a:extLst>
          </p:cNvPr>
          <p:cNvSpPr txBox="1"/>
          <p:nvPr/>
        </p:nvSpPr>
        <p:spPr>
          <a:xfrm>
            <a:off x="689504" y="2365808"/>
            <a:ext cx="4610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0000"/>
                </a:solidFill>
              </a:rPr>
              <a:t>Conclusion</a:t>
            </a:r>
            <a:endParaRPr lang="en-IN" sz="3600" b="1" dirty="0">
              <a:solidFill>
                <a:srgbClr val="FF000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9B42A0-59F4-2897-6F52-9099EE73F8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9504" y="3384197"/>
            <a:ext cx="8872942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Provides a clear and interactive view of production performance and cost analysis.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Helps compare planned vs actual costs to improve operational efficiency.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Supports data-driven decision-making for better cost control and productivity.</a:t>
            </a:r>
          </a:p>
        </p:txBody>
      </p:sp>
    </p:spTree>
    <p:extLst>
      <p:ext uri="{BB962C8B-B14F-4D97-AF65-F5344CB8AC3E}">
        <p14:creationId xmlns:p14="http://schemas.microsoft.com/office/powerpoint/2010/main" val="12806761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BDA8EC5-76CE-C753-70E5-CA290896C80E}"/>
              </a:ext>
            </a:extLst>
          </p:cNvPr>
          <p:cNvSpPr txBox="1"/>
          <p:nvPr/>
        </p:nvSpPr>
        <p:spPr>
          <a:xfrm>
            <a:off x="3445933" y="154361"/>
            <a:ext cx="477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rgbClr val="FF0000"/>
                </a:solidFill>
              </a:rPr>
              <a:t>Dashboard Overview</a:t>
            </a:r>
            <a:endParaRPr lang="en-IN" sz="3600" b="1" dirty="0">
              <a:solidFill>
                <a:srgbClr val="FF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B60F18-8B4E-BCBA-E0B7-C94E0DEFD7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893" y="800692"/>
            <a:ext cx="10455546" cy="5875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628822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Depth</Template>
  <TotalTime>953</TotalTime>
  <Words>285</Words>
  <Application>Microsoft Office PowerPoint</Application>
  <PresentationFormat>Widescreen</PresentationFormat>
  <Paragraphs>64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Corbel</vt:lpstr>
      <vt:lpstr>Wingdings</vt:lpstr>
      <vt:lpstr>Depth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Oviyapriya R</dc:creator>
  <cp:lastModifiedBy>Oviyapriya R</cp:lastModifiedBy>
  <cp:revision>4</cp:revision>
  <dcterms:created xsi:type="dcterms:W3CDTF">2026-02-04T16:39:55Z</dcterms:created>
  <dcterms:modified xsi:type="dcterms:W3CDTF">2026-02-15T14:09:06Z</dcterms:modified>
</cp:coreProperties>
</file>